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9150" y="800100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D6B5B"/>
                </a:solidFill>
                <a:latin typeface="Microsoft YaHei"/>
                <a:ea typeface="Microsoft YaHei"/>
              </a:rPr>
              <a:t>网络进展组会 · R4Det + RSSM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1181100"/>
            <a:ext cx="1028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7372F"/>
                </a:solidFill>
                <a:latin typeface="Microsoft YaHei"/>
                <a:ea typeface="Microsoft YaHei"/>
              </a:rPr>
              <a:t>R4Det+RSSM：BEV 时序融合网络进展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981199"/>
            <a:ext cx="1143000" cy="76200"/>
          </a:xfrm>
          <a:prstGeom prst="rect">
            <a:avLst/>
          </a:prstGeom>
          <a:solidFill>
            <a:srgbClr val="F6D676"/>
          </a:solidFill>
          <a:ln w="12700">
            <a:solidFill>
              <a:srgbClr val="F6D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9150" y="22860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2736C"/>
                </a:solidFill>
                <a:latin typeface="Microsoft YaHei"/>
                <a:ea typeface="Microsoft YaHei"/>
              </a:rPr>
              <a:t>预训练骨干 + N=4 帧运动对齐 RSSM + 检测头 v2 的完整演进、机制拆解与失败分析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150" y="3009900"/>
            <a:ext cx="3352800" cy="12573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9150" y="3009900"/>
            <a:ext cx="47625" cy="125730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49" y="3219450"/>
            <a:ext cx="29337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7372F"/>
                </a:solidFill>
                <a:latin typeface="Microsoft YaHei"/>
                <a:ea typeface="Microsoft YaHei"/>
              </a:rPr>
              <a:t>40.42 ± 0.51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49" y="3771900"/>
            <a:ext cx="2933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2736C"/>
                </a:solidFill>
                <a:latin typeface="Microsoft YaHei"/>
                <a:ea typeface="Microsoft YaHei"/>
              </a:rPr>
              <a:t>主线三 seed 均值（Overall 3D moderate）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8650" y="3009900"/>
            <a:ext cx="3352800" cy="12573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8650" y="3009900"/>
            <a:ext cx="47625" cy="125730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7250" y="3219450"/>
            <a:ext cx="29337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7372F"/>
                </a:solidFill>
                <a:latin typeface="Microsoft YaHei"/>
                <a:ea typeface="Microsoft YaHei"/>
              </a:rPr>
              <a:t>+4.83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0" y="3771900"/>
            <a:ext cx="2933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2736C"/>
                </a:solidFill>
                <a:latin typeface="Microsoft YaHei"/>
                <a:ea typeface="Microsoft YaHei"/>
              </a:rPr>
              <a:t>较同配置 No-Temporal 35.59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8150" y="3009900"/>
            <a:ext cx="3352800" cy="12573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8150" y="3009900"/>
            <a:ext cx="47625" cy="125730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6750" y="3219450"/>
            <a:ext cx="29337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7372F"/>
                </a:solidFill>
                <a:latin typeface="Microsoft YaHei"/>
                <a:ea typeface="Microsoft YaHei"/>
              </a:rPr>
              <a:t>40+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0" y="3771900"/>
            <a:ext cx="2933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2736C"/>
                </a:solidFill>
                <a:latin typeface="Microsoft YaHei"/>
                <a:ea typeface="Microsoft YaHei"/>
              </a:rPr>
              <a:t>训练实验 · 全部经日志复算核验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4724400"/>
            <a:ext cx="10287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3732"/>
                </a:solidFill>
                <a:latin typeface="Microsoft YaHei"/>
                <a:ea typeface="Microsoft YaHei"/>
              </a:rPr>
              <a:t>项目周期 2026-07 至 2026-09 · 44 节实验记录 · 结论全部可追溯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5219700"/>
            <a:ext cx="102870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2736C"/>
                </a:solidFill>
                <a:latin typeface="Microsoft YaHei"/>
                <a:ea typeface="Microsoft YaHei"/>
              </a:rPr>
              <a:t>汇报约 15 分钟 · 19 页 · 每页页脚标注证据出处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报告 §1/§11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议程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2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7372F"/>
                </a:solidFill>
                <a:latin typeface="Microsoft YaHei"/>
                <a:ea typeface="Microsoft YaHei"/>
              </a:rPr>
              <a:t>汇报流程：从口径到结论的四段结构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24000"/>
            <a:ext cx="5200650" cy="10287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7250" y="1771650"/>
            <a:ext cx="533400" cy="533400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714500"/>
            <a:ext cx="4152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7372F"/>
                </a:solidFill>
                <a:latin typeface="Microsoft YaHei"/>
                <a:ea typeface="Microsoft YaHei"/>
              </a:rPr>
              <a:t>背景与评估口径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2057400"/>
            <a:ext cx="4152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2736C"/>
                </a:solidFill>
                <a:latin typeface="Microsoft YaHei"/>
                <a:ea typeface="Microsoft YaHei"/>
              </a:rPr>
              <a:t>任务、数据分布、Overall 指标的真实构成（P3–4）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5550" y="1524000"/>
            <a:ext cx="5200650" cy="10287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7000" y="1771650"/>
            <a:ext cx="533400" cy="533400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1850" y="1714500"/>
            <a:ext cx="4152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7372F"/>
                </a:solidFill>
                <a:latin typeface="Microsoft YaHei"/>
                <a:ea typeface="Microsoft YaHei"/>
              </a:rPr>
              <a:t>网络结构与 RSSM 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1850" y="2057400"/>
            <a:ext cx="4152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2736C"/>
                </a:solidFill>
                <a:latin typeface="Microsoft YaHei"/>
                <a:ea typeface="Microsoft YaHei"/>
              </a:rPr>
              <a:t>双路 BEV 架构、演进链、h/z 状态机与训练配方（P5–8）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00350"/>
            <a:ext cx="5200650" cy="10287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7250" y="3048000"/>
            <a:ext cx="533400" cy="533400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2100" y="2990850"/>
            <a:ext cx="4152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7372F"/>
                </a:solidFill>
                <a:latin typeface="Microsoft YaHei"/>
                <a:ea typeface="Microsoft YaHei"/>
              </a:rPr>
              <a:t>主结果与逐类别明细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2100" y="3333750"/>
            <a:ext cx="4152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2736C"/>
                </a:solidFill>
                <a:latin typeface="Microsoft YaHei"/>
                <a:ea typeface="Microsoft YaHei"/>
              </a:rPr>
              <a:t>三 seed 复现、逐类别 strict/loose、机制消融（P9–12）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5550" y="2800350"/>
            <a:ext cx="5200650" cy="10287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7000" y="3048000"/>
            <a:ext cx="533400" cy="533400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1850" y="2990850"/>
            <a:ext cx="4152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7372F"/>
                </a:solidFill>
                <a:latin typeface="Microsoft YaHei"/>
                <a:ea typeface="Microsoft YaHei"/>
              </a:rPr>
              <a:t>失败分析与下一步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1850" y="3333750"/>
            <a:ext cx="4152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2736C"/>
                </a:solidFill>
                <a:latin typeface="Microsoft YaHei"/>
                <a:ea typeface="Microsoft YaHei"/>
              </a:rPr>
              <a:t>Truck 零和、Ped 物理瓶颈、Cyclist 分支与计划（P13–19）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报告目录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背景与口径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3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7372F"/>
                </a:solidFill>
                <a:latin typeface="Microsoft YaHei"/>
                <a:ea typeface="Microsoft YaHei"/>
              </a:rPr>
              <a:t>任务与数据：四类 3D 检测，Pedestrian 最稀少也最难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9" name="Picture 8" descr="fig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295400"/>
            <a:ext cx="5753100" cy="41529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1295400"/>
            <a:ext cx="5981700" cy="415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581650"/>
            <a:ext cx="5981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图A｜TJ4D 类别分布 · 报告 §1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4250" y="1428750"/>
            <a:ext cx="1066800" cy="247649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8550" y="1476375"/>
            <a:ext cx="838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6B5B"/>
                </a:solidFill>
                <a:latin typeface="Microsoft YaHei"/>
                <a:ea typeface="Microsoft YaHei"/>
              </a:rPr>
              <a:t>本文证据</a:t>
            </a:r>
          </a:p>
        </p:txBody>
      </p:sp>
      <p:sp>
        <p:nvSpPr>
          <p:cNvPr id="14" name="Oval 13"/>
          <p:cNvSpPr/>
          <p:nvPr/>
        </p:nvSpPr>
        <p:spPr>
          <a:xfrm>
            <a:off x="7334250" y="209549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00025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63732"/>
                </a:solidFill>
                <a:latin typeface="Microsoft YaHei"/>
                <a:ea typeface="Microsoft YaHei"/>
              </a:rPr>
              <a:t>TJ4D：train 5706 / val 2040 帧，雷达+单目相机</a:t>
            </a:r>
          </a:p>
        </p:txBody>
      </p:sp>
      <p:sp>
        <p:nvSpPr>
          <p:cNvPr id="16" name="Oval 15"/>
          <p:cNvSpPr/>
          <p:nvPr/>
        </p:nvSpPr>
        <p:spPr>
          <a:xfrm>
            <a:off x="7334250" y="29146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81940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732"/>
                </a:solidFill>
                <a:latin typeface="Microsoft YaHei"/>
                <a:ea typeface="Microsoft YaHei"/>
              </a:rPr>
              <a:t>Car 占 48.4%，Pedestrian 仅 13.5%（val 999 框）</a:t>
            </a:r>
          </a:p>
        </p:txBody>
      </p:sp>
      <p:sp>
        <p:nvSpPr>
          <p:cNvPr id="18" name="Oval 17"/>
          <p:cNvSpPr/>
          <p:nvPr/>
        </p:nvSpPr>
        <p:spPr>
          <a:xfrm>
            <a:off x="7334250" y="373379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363855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63732"/>
                </a:solidFill>
                <a:latin typeface="Microsoft YaHei"/>
                <a:ea typeface="Microsoft YaHei"/>
              </a:rPr>
              <a:t>数据集无 ego 位姿/速度 → action 分支无真实信号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4250" y="4743450"/>
            <a:ext cx="4171950" cy="742950"/>
          </a:xfrm>
          <a:prstGeom prst="rect">
            <a:avLst/>
          </a:prstGeom>
          <a:solidFill>
            <a:srgbClr val="FFF9E5"/>
          </a:solidFill>
          <a:ln w="12700">
            <a:solidFill>
              <a:srgbClr val="F6D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4749" y="4895850"/>
            <a:ext cx="37909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05717"/>
                </a:solidFill>
                <a:latin typeface="Microsoft YaHei"/>
                <a:ea typeface="Microsoft YaHei"/>
              </a:rPr>
              <a:t>类别计数由 info pkl 实测；雷达点 5 通道（xyz+径向速度+SNR）。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数据 pkl 实测 · 报告 §1.2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背景与口径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4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7372F"/>
                </a:solidFill>
                <a:latin typeface="Microsoft YaHei"/>
                <a:ea typeface="Microsoft YaHei"/>
              </a:rPr>
              <a:t>读数前提：Overall 是 Car/Truck strict 加 Ped/Cyc loose 的均值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0287000" cy="104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72F"/>
                </a:solidFill>
                <a:latin typeface="Microsoft YaHei"/>
                <a:ea typeface="Microsoft YaHei"/>
              </a:rPr>
              <a:t>主指标 Overall 3D moderate 的真实构成（eval.py 拼接后取均值），读任何数字都要按此理解。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9146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50" y="28194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63732"/>
                </a:solidFill>
                <a:latin typeface="Microsoft YaHei"/>
                <a:ea typeface="Microsoft YaHei"/>
              </a:rPr>
              <a:t>KITTI 式 AP40：easy / moderate / hard 三档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79094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50" y="36957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63732"/>
                </a:solidFill>
                <a:latin typeface="Microsoft YaHei"/>
                <a:ea typeface="Microsoft YaHei"/>
              </a:rPr>
              <a:t>strict：Car 0.7、Ped/Cyc 0.5；loose：统一 0.25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672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350" y="45720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63732"/>
                </a:solidFill>
                <a:latin typeface="Microsoft YaHei"/>
                <a:ea typeface="Microsoft YaHei"/>
              </a:rPr>
              <a:t>按使用频率加权的口径会改变方案排名（备份可讲）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eval.py:925-937 · 报告 §1.3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网络与机制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5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7372F"/>
                </a:solidFill>
                <a:latin typeface="Microsoft YaHei"/>
                <a:ea typeface="Microsoft YaHei"/>
              </a:rPr>
              <a:t>架构：两路 BEV 在 0.32m 网格融合，再进 RSSM 与检测头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9" name="Picture 8" descr="fi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1295400"/>
            <a:ext cx="5762625" cy="41529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1295400"/>
            <a:ext cx="5981700" cy="415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581650"/>
            <a:ext cx="5981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图B｜网络总体架构 · 报告 §4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4250" y="1428750"/>
            <a:ext cx="1066800" cy="247649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8550" y="1476375"/>
            <a:ext cx="838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6B5B"/>
                </a:solidFill>
                <a:latin typeface="Microsoft YaHei"/>
                <a:ea typeface="Microsoft YaHei"/>
              </a:rPr>
              <a:t>本文证据</a:t>
            </a:r>
          </a:p>
        </p:txBody>
      </p:sp>
      <p:sp>
        <p:nvSpPr>
          <p:cNvPr id="14" name="Oval 13"/>
          <p:cNvSpPr/>
          <p:nvPr/>
        </p:nvSpPr>
        <p:spPr>
          <a:xfrm>
            <a:off x="7334250" y="209549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00025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63732"/>
                </a:solidFill>
                <a:latin typeface="Microsoft YaHei"/>
                <a:ea typeface="Microsoft YaHei"/>
              </a:rPr>
              <a:t>雷达：0.16m pillar → SECOND+FPN → 384ch BEV</a:t>
            </a:r>
          </a:p>
        </p:txBody>
      </p:sp>
      <p:sp>
        <p:nvSpPr>
          <p:cNvPr id="16" name="Oval 15"/>
          <p:cNvSpPr/>
          <p:nvPr/>
        </p:nvSpPr>
        <p:spPr>
          <a:xfrm>
            <a:off x="7334250" y="29146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81940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63732"/>
                </a:solidFill>
                <a:latin typeface="Microsoft YaHei"/>
                <a:ea typeface="Microsoft YaHei"/>
              </a:rPr>
              <a:t>相机：ResNet50+深度 72bins+LSS → 256ch BEV</a:t>
            </a:r>
          </a:p>
        </p:txBody>
      </p:sp>
      <p:sp>
        <p:nvSpPr>
          <p:cNvPr id="18" name="Oval 17"/>
          <p:cNvSpPr/>
          <p:nvPr/>
        </p:nvSpPr>
        <p:spPr>
          <a:xfrm>
            <a:off x="7334250" y="373379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363855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63732"/>
                </a:solidFill>
                <a:latin typeface="Microsoft YaHei"/>
                <a:ea typeface="Microsoft YaHei"/>
              </a:rPr>
              <a:t>融合 256ch（216×248）→ N=4 帧时序 → 检测头 v2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4250" y="4743450"/>
            <a:ext cx="4171950" cy="742950"/>
          </a:xfrm>
          <a:prstGeom prst="rect">
            <a:avLst/>
          </a:prstGeom>
          <a:solidFill>
            <a:srgbClr val="FFF9E5"/>
          </a:solidFill>
          <a:ln w="12700">
            <a:solidFill>
              <a:srgbClr val="F6D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4749" y="4895850"/>
            <a:ext cx="37909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05717"/>
                </a:solidFill>
                <a:latin typeface="Microsoft YaHei"/>
                <a:ea typeface="Microsoft YaHei"/>
              </a:rPr>
              <a:t>形状按主线配置断言值标注；深度监督/2D 头等支路已全部关闭。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R4Det.py 前向 · 报告 §4.2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网络与机制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6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7372F"/>
                </a:solidFill>
                <a:latin typeface="Microsoft YaHei"/>
                <a:ea typeface="Microsoft YaHei"/>
              </a:rPr>
              <a:t>两次跃迁把 34 分档抬进 40 分档：预训练与检测头 v2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9" name="Picture 8" descr="fig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295400"/>
            <a:ext cx="8191500" cy="31432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1295400"/>
            <a:ext cx="10820400" cy="3143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5339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图C｜主指标演进链 · 报告 §6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781550"/>
            <a:ext cx="1066800" cy="247649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" y="4829175"/>
            <a:ext cx="838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6B5B"/>
                </a:solidFill>
                <a:latin typeface="Microsoft YaHei"/>
                <a:ea typeface="Microsoft YaHei"/>
              </a:rPr>
              <a:t>本文证据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2006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350" y="5105400"/>
            <a:ext cx="105346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63732"/>
                </a:solidFill>
                <a:latin typeface="Microsoft YaHei"/>
                <a:ea typeface="Microsoft YaHei"/>
              </a:rPr>
              <a:t>RSSM v1→v3 踩坑修复后与 GRU 同档（34 上下）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476875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50" y="5381625"/>
            <a:ext cx="105346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732"/>
                </a:solidFill>
                <a:latin typeface="Microsoft YaHei"/>
                <a:ea typeface="Microsoft YaHei"/>
              </a:rPr>
              <a:t>预训练 +3.23（34.71→37.94，Car strict +12.6）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75310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50" y="5657850"/>
            <a:ext cx="105346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732"/>
                </a:solidFill>
                <a:latin typeface="Microsoft YaHei"/>
                <a:ea typeface="Microsoft YaHei"/>
              </a:rPr>
              <a:t>head-v2 后 39.65；三 seed 40.42±0.51 定稿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953125"/>
            <a:ext cx="10820400" cy="371475"/>
          </a:xfrm>
          <a:prstGeom prst="rect">
            <a:avLst/>
          </a:prstGeom>
          <a:solidFill>
            <a:srgbClr val="FFF9E5"/>
          </a:solidFill>
          <a:ln w="12700">
            <a:solidFill>
              <a:srgbClr val="F6D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250" y="6048375"/>
            <a:ext cx="10458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05717"/>
                </a:solidFill>
                <a:latin typeface="Microsoft YaHei"/>
                <a:ea typeface="Microsoft YaHei"/>
              </a:rPr>
              <a:t>18e 无预训练时代与 24e+pretrain 时代配置不同，本图只做趋势对比。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work_dirs 日志复算 · 报告 §6-§7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网络与机制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7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7372F"/>
                </a:solidFill>
                <a:latin typeface="Microsoft YaHei"/>
                <a:ea typeface="Microsoft YaHei"/>
              </a:rPr>
              <a:t>h/z 双状态 + 先验/后验：训练走 KL 与采样，推理只用后验均值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9" name="Picture 8" descr="fig_rs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1295400"/>
            <a:ext cx="4857750" cy="31432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1295400"/>
            <a:ext cx="10820400" cy="3143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5339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图D｜RSSM 机制与代码对应 · 报告 §5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781550"/>
            <a:ext cx="1066800" cy="247649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" y="4829175"/>
            <a:ext cx="838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6B5B"/>
                </a:solidFill>
                <a:latin typeface="Microsoft YaHei"/>
                <a:ea typeface="Microsoft YaHei"/>
              </a:rPr>
              <a:t>本文证据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2006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350" y="5105400"/>
            <a:ext cx="105346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732"/>
                </a:solidFill>
                <a:latin typeface="Microsoft YaHei"/>
                <a:ea typeface="Microsoft YaHei"/>
              </a:rPr>
              <a:t>transition：ConvGRU + deform 对齐（零初始化起步）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476875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50" y="5381625"/>
            <a:ext cx="105346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3732"/>
                </a:solidFill>
                <a:latin typeface="Microsoft YaHei"/>
                <a:ea typeface="Microsoft YaHei"/>
              </a:rPr>
              <a:t>KL：free-bits clamp + warmup 0→1.0（ep0-10）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75310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50" y="5657850"/>
            <a:ext cx="105346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732"/>
                </a:solidFill>
                <a:latin typeface="Microsoft YaHei"/>
                <a:ea typeface="Microsoft YaHei"/>
              </a:rPr>
              <a:t>输出 = output_proj(z) + feat 残差；截断 BPTT=1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953125"/>
            <a:ext cx="10820400" cy="371475"/>
          </a:xfrm>
          <a:prstGeom prst="rect">
            <a:avLst/>
          </a:prstGeom>
          <a:solidFill>
            <a:srgbClr val="FFF9E5"/>
          </a:solidFill>
          <a:ln w="12700">
            <a:solidFill>
              <a:srgbClr val="F6D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250" y="6048375"/>
            <a:ext cx="10458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05717"/>
                </a:solidFill>
                <a:latin typeface="Microsoft YaHei"/>
                <a:ea typeface="Microsoft YaHei"/>
              </a:rPr>
              <a:t>推理路径不经过 prior；历史帧 no_grad，仅最近 1 帧保留梯度。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rssm_fusion.py · 报告 §5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网络与机制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8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7372F"/>
                </a:solidFill>
                <a:latin typeface="Microsoft YaHei"/>
                <a:ea typeface="Microsoft YaHei"/>
              </a:rPr>
              <a:t>训练配方：所有 24e 主线 run 共享，仅种子与结构开关不同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295400"/>
            <a:ext cx="2590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95400"/>
            <a:ext cx="47625" cy="91440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6300" y="1428750"/>
            <a:ext cx="2247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372F"/>
                </a:solidFill>
                <a:latin typeface="Microsoft YaHei"/>
                <a:ea typeface="Microsoft YaHei"/>
              </a:rPr>
              <a:t>AdamW 1.5e-4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184785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Cosine 退火 · min_lr 1e-5 · grad clip 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5200" y="1295400"/>
            <a:ext cx="2590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5200" y="1295400"/>
            <a:ext cx="47625" cy="91440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5700" y="1428750"/>
            <a:ext cx="2247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372F"/>
                </a:solidFill>
                <a:latin typeface="Microsoft YaHei"/>
                <a:ea typeface="Microsoft YaHei"/>
              </a:rPr>
              <a:t>batch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5700" y="184785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3 卡 × 2 × 累积 2；RepeatDataset ×2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600" y="1295400"/>
            <a:ext cx="2590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4600" y="1295400"/>
            <a:ext cx="47625" cy="91440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5100" y="1428750"/>
            <a:ext cx="2247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7372F"/>
                </a:solidFill>
                <a:latin typeface="Microsoft YaHei"/>
                <a:ea typeface="Microsoft YaHei"/>
              </a:rPr>
              <a:t>KL warmup 10ep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184785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kl_scale 0→1.0 线性；free_nats 1.0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295400"/>
            <a:ext cx="2590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295400"/>
            <a:ext cx="47625" cy="91440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4500" y="1428750"/>
            <a:ext cx="2247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372F"/>
                </a:solidFill>
                <a:latin typeface="Microsoft YaHei"/>
                <a:ea typeface="Microsoft YaHei"/>
              </a:rPr>
              <a:t>BPTT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4500" y="184785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仅最近 1 帧回传；interval=1 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476500"/>
            <a:ext cx="10287000" cy="104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372F"/>
                </a:solidFill>
                <a:latin typeface="Microsoft YaHei"/>
                <a:ea typeface="Microsoft YaHei"/>
              </a:rPr>
              <a:t>保证横向对比干净：超参、数据管线、评估口径完全一致，变量唯一。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379094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350" y="36957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63732"/>
                </a:solidFill>
                <a:latin typeface="Microsoft YaHei"/>
                <a:ea typeface="Microsoft YaHei"/>
              </a:rPr>
              <a:t>Run10 曾因 interval=2 丢失峰值 ep11=40.60 → 此后全部逐 epoch 存盘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" y="46672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5350" y="45720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63732"/>
                </a:solidFill>
                <a:latin typeface="Microsoft YaHei"/>
                <a:ea typeface="Microsoft YaHei"/>
              </a:rPr>
              <a:t>推理 deterministic：z 取后验均值，历史帧 no_grad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主配置与快照 · 报告 §3.3/附录B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主结果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9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7372F"/>
                </a:solidFill>
                <a:latin typeface="Microsoft YaHei"/>
                <a:ea typeface="Microsoft YaHei"/>
              </a:rPr>
              <a:t>主线结果：40.42±0.51，峰值集中在 ep12–16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9" name="Picture 8" descr="fig_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295400"/>
            <a:ext cx="5543550" cy="41529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1295400"/>
            <a:ext cx="5981700" cy="415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581650"/>
            <a:ext cx="5981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图E｜三 seed 复现 · 报告 §7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4250" y="1428750"/>
            <a:ext cx="1066800" cy="247649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8550" y="1476375"/>
            <a:ext cx="838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6B5B"/>
                </a:solidFill>
                <a:latin typeface="Microsoft YaHei"/>
                <a:ea typeface="Microsoft YaHei"/>
              </a:rPr>
              <a:t>本文证据</a:t>
            </a:r>
          </a:p>
        </p:txBody>
      </p:sp>
      <p:sp>
        <p:nvSpPr>
          <p:cNvPr id="14" name="Oval 13"/>
          <p:cNvSpPr/>
          <p:nvPr/>
        </p:nvSpPr>
        <p:spPr>
          <a:xfrm>
            <a:off x="7334250" y="209549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00025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732"/>
                </a:solidFill>
                <a:latin typeface="Microsoft YaHei"/>
                <a:ea typeface="Microsoft YaHei"/>
              </a:rPr>
              <a:t>s0 39.88 / s1 40.51 / s2 40.88（deterministic）</a:t>
            </a:r>
          </a:p>
        </p:txBody>
      </p:sp>
      <p:sp>
        <p:nvSpPr>
          <p:cNvPr id="16" name="Oval 15"/>
          <p:cNvSpPr/>
          <p:nvPr/>
        </p:nvSpPr>
        <p:spPr>
          <a:xfrm>
            <a:off x="7334250" y="29146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81940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63732"/>
                </a:solidFill>
                <a:latin typeface="Microsoft YaHei"/>
                <a:ea typeface="Microsoft YaHei"/>
              </a:rPr>
              <a:t>较无时序基线 35.59 高出 4.83</a:t>
            </a:r>
          </a:p>
        </p:txBody>
      </p:sp>
      <p:sp>
        <p:nvSpPr>
          <p:cNvPr id="18" name="Oval 17"/>
          <p:cNvSpPr/>
          <p:nvPr/>
        </p:nvSpPr>
        <p:spPr>
          <a:xfrm>
            <a:off x="7334250" y="373379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363855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732"/>
                </a:solidFill>
                <a:latin typeface="Microsoft YaHei"/>
                <a:ea typeface="Microsoft YaHei"/>
              </a:rPr>
              <a:t>seed2 ep14=40.88 为 released checkpoint 候选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4250" y="4743450"/>
            <a:ext cx="4171950" cy="742950"/>
          </a:xfrm>
          <a:prstGeom prst="rect">
            <a:avLst/>
          </a:prstGeom>
          <a:solidFill>
            <a:srgbClr val="FFF9E5"/>
          </a:solidFill>
          <a:ln w="12700">
            <a:solidFill>
              <a:srgbClr val="F6D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4749" y="4895850"/>
            <a:ext cx="37909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05717"/>
                </a:solidFill>
                <a:latin typeface="Microsoft YaHei"/>
                <a:ea typeface="Microsoft YaHei"/>
              </a:rPr>
              <a:t>单点 BEST 仅附录口径；主表报三 seed 均值±标准差。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run10 multiseed 日志 · 报告 §19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主结果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10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372F"/>
                </a:solidFill>
                <a:latin typeface="Microsoft YaHei"/>
                <a:ea typeface="Microsoft YaHei"/>
              </a:rPr>
              <a:t>逐类别明细：Ped strict 归零横跨全部 seed，Car loose 波动最大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352550"/>
          <a:ext cx="10820400" cy="3238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7000"/>
                <a:gridCol w="1905000"/>
                <a:gridCol w="1905000"/>
                <a:gridCol w="1905000"/>
                <a:gridCol w="2438400"/>
              </a:tblGrid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类别 · 3D moderate</a:t>
                      </a:r>
                    </a:p>
                  </a:txBody>
                  <a:tcPr marL="73152" marR="73152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seed0 (ep16)</a:t>
                      </a:r>
                    </a:p>
                  </a:txBody>
                  <a:tcPr marL="73152" marR="73152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seed1 (ep15)</a:t>
                      </a:r>
                    </a:p>
                  </a:txBody>
                  <a:tcPr marL="73152" marR="73152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seed2 (ep14)</a:t>
                      </a:r>
                    </a:p>
                  </a:txBody>
                  <a:tcPr marL="73152" marR="73152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三 seed 均值</a:t>
                      </a:r>
                    </a:p>
                  </a:txBody>
                  <a:tcPr marL="73152" marR="73152" anchor="ctr">
                    <a:solidFill>
                      <a:srgbClr val="2D6B5B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372F"/>
                          </a:solidFill>
                          <a:latin typeface="Microsoft YaHei"/>
                          <a:ea typeface="Microsoft YaHei"/>
                        </a:rPr>
                        <a:t>Pedestrian · strict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0.10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0.15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0.12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0.12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372F"/>
                          </a:solidFill>
                          <a:latin typeface="Microsoft YaHei"/>
                          <a:ea typeface="Microsoft YaHei"/>
                        </a:rPr>
                        <a:t>Pedestrian · loose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28.64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30.39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31.32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30.12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372F"/>
                          </a:solidFill>
                          <a:latin typeface="Microsoft YaHei"/>
                          <a:ea typeface="Microsoft YaHei"/>
                        </a:rPr>
                        <a:t>Cyclist · strict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23.17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26.64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28.07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25.96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372F"/>
                          </a:solidFill>
                          <a:latin typeface="Microsoft YaHei"/>
                          <a:ea typeface="Microsoft YaHei"/>
                        </a:rPr>
                        <a:t>Cyclist · loose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50.47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49.36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50.09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49.97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372F"/>
                          </a:solidFill>
                          <a:latin typeface="Microsoft YaHei"/>
                          <a:ea typeface="Microsoft YaHei"/>
                        </a:rPr>
                        <a:t>Car · strict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49.98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47.49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51.35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49.60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372F"/>
                          </a:solidFill>
                          <a:latin typeface="Microsoft YaHei"/>
                          <a:ea typeface="Microsoft YaHei"/>
                        </a:rPr>
                        <a:t>Car · loose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69.20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72.57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75.77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72.52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372F"/>
                          </a:solidFill>
                          <a:latin typeface="Microsoft YaHei"/>
                          <a:ea typeface="Microsoft YaHei"/>
                        </a:rPr>
                        <a:t>Truck · strict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30.43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34.79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30.76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31.99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372F"/>
                          </a:solidFill>
                          <a:latin typeface="Microsoft YaHei"/>
                          <a:ea typeface="Microsoft YaHei"/>
                        </a:rPr>
                        <a:t>Truck · loose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49.44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51.58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52.01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3732"/>
                          </a:solidFill>
                          <a:latin typeface="Microsoft YaHei"/>
                          <a:ea typeface="Microsoft YaHei"/>
                        </a:rPr>
                        <a:t>51.01</a:t>
                      </a:r>
                    </a:p>
                  </a:txBody>
                  <a:tcPr marL="73152" marR="73152" anchor="ctr">
                    <a:solidFill>
                      <a:srgbClr val="E5EFE9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372F"/>
                          </a:solidFill>
                          <a:latin typeface="Microsoft YaHei"/>
                          <a:ea typeface="Microsoft YaHei"/>
                        </a:rPr>
                        <a:t>Overall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372F"/>
                          </a:solidFill>
                          <a:latin typeface="Microsoft YaHei"/>
                          <a:ea typeface="Microsoft YaHei"/>
                        </a:rPr>
                        <a:t>39.88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372F"/>
                          </a:solidFill>
                          <a:latin typeface="Microsoft YaHei"/>
                          <a:ea typeface="Microsoft YaHei"/>
                        </a:rPr>
                        <a:t>40.51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372F"/>
                          </a:solidFill>
                          <a:latin typeface="Microsoft YaHei"/>
                          <a:ea typeface="Microsoft YaHei"/>
                        </a:rPr>
                        <a:t>40.88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7372F"/>
                          </a:solidFill>
                          <a:latin typeface="Microsoft YaHei"/>
                          <a:ea typeface="Microsoft YaHei"/>
                        </a:rPr>
                        <a:t>40.42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685800" y="48577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50" y="4762500"/>
            <a:ext cx="105346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3732"/>
                </a:solidFill>
                <a:latin typeface="Microsoft YaHei"/>
                <a:ea typeface="Microsoft YaHei"/>
              </a:rPr>
              <a:t>Ped strict 0.10–0.15：三个 seed 一致归零（物理瓶颈，见 P14）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514350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50" y="5048250"/>
            <a:ext cx="105346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3732"/>
                </a:solidFill>
                <a:latin typeface="Microsoft YaHei"/>
                <a:ea typeface="Microsoft YaHei"/>
              </a:rPr>
              <a:t>Car loose 69.2→75.8（±3.3）：seed 间最大方差来源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4292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350" y="5334000"/>
            <a:ext cx="105346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3732"/>
                </a:solidFill>
                <a:latin typeface="Microsoft YaHei"/>
                <a:ea typeface="Microsoft YaHei"/>
              </a:rPr>
              <a:t>Truck strict 均值 31.99：后续 Truck 专项门控红线的基准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695950"/>
            <a:ext cx="10820400" cy="342900"/>
          </a:xfrm>
          <a:prstGeom prst="rect">
            <a:avLst/>
          </a:prstGeom>
          <a:solidFill>
            <a:srgbClr val="FFF9E5"/>
          </a:solidFill>
          <a:ln w="12700">
            <a:solidFill>
              <a:srgbClr val="F6D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50" y="5772150"/>
            <a:ext cx="10458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05717"/>
                </a:solidFill>
                <a:latin typeface="Microsoft YaHei"/>
                <a:ea typeface="Microsoft YaHei"/>
              </a:rPr>
              <a:t>各 seed 取 BEST epoch；Overall=Car/Trk strict + Ped/Cyc loose 的均值。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multiseed 日志逐类键复算 · 报告 §19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主结果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11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7372F"/>
                </a:solidFill>
                <a:latin typeface="Microsoft YaHei"/>
                <a:ea typeface="Microsoft YaHei"/>
              </a:rPr>
              <a:t>机制拆解：确定性传播约 +2.4，随机建模再 +1.9，共同必需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9" name="Picture 8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1295400"/>
            <a:ext cx="4991100" cy="31432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1295400"/>
            <a:ext cx="10820400" cy="3143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5339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图F｜RSSM 机制消融 · 报告 §8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781550"/>
            <a:ext cx="1066800" cy="247649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" y="4829175"/>
            <a:ext cx="838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6B5B"/>
                </a:solidFill>
                <a:latin typeface="Microsoft YaHei"/>
                <a:ea typeface="Microsoft YaHei"/>
              </a:rPr>
              <a:t>本文证据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2006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350" y="5105400"/>
            <a:ext cx="105346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732"/>
                </a:solidFill>
                <a:latin typeface="Microsoft YaHei"/>
                <a:ea typeface="Microsoft YaHei"/>
              </a:rPr>
              <a:t>No-Temporal 34.65 → Deterministic 37.08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476875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50" y="5381625"/>
            <a:ext cx="105346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732"/>
                </a:solidFill>
                <a:latin typeface="Microsoft YaHei"/>
                <a:ea typeface="Microsoft YaHei"/>
              </a:rPr>
              <a:t>完整 RSSM 窗口 39.00；KL=0 单 seed 曾 40.35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75310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50" y="5657850"/>
            <a:ext cx="105346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3732"/>
                </a:solidFill>
                <a:latin typeface="Microsoft YaHei"/>
                <a:ea typeface="Microsoft YaHei"/>
              </a:rPr>
              <a:t>KL=0 三 seed 37.94（seed2 −4.03）→ 保留 KL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953125"/>
            <a:ext cx="10820400" cy="371475"/>
          </a:xfrm>
          <a:prstGeom prst="rect">
            <a:avLst/>
          </a:prstGeom>
          <a:solidFill>
            <a:srgbClr val="FFF9E5"/>
          </a:solidFill>
          <a:ln w="12700">
            <a:solidFill>
              <a:srgbClr val="F6D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250" y="6048375"/>
            <a:ext cx="10458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05717"/>
                </a:solidFill>
                <a:latin typeface="Microsoft YaHei"/>
                <a:ea typeface="Microsoft YaHei"/>
              </a:rPr>
              <a:t>窗口=ep12-16 均值；Deterministic/FixedNoise/Learnable-std 为删组件变体。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各消融日志 · 报告 §20-§25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主结果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12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7372F"/>
                </a:solidFill>
                <a:latin typeface="Microsoft YaHei"/>
                <a:ea typeface="Microsoft YaHei"/>
              </a:rPr>
              <a:t>KL「死亡」是稳态而非病灶：prior 退化为后验复制品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0287000" cy="104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372F"/>
                </a:solidFill>
                <a:latin typeface="Microsoft YaHei"/>
                <a:ea typeface="Microsoft YaHei"/>
              </a:rPr>
              <a:t>所有完整 RSSM run 收敛后 KL 被 free-nats 钳住、梯度归零，但推理不走 prior，因此对当前 AP 中性偏正。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9146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50" y="28194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63732"/>
                </a:solidFill>
                <a:latin typeface="Microsoft YaHei"/>
                <a:ea typeface="Microsoft YaHei"/>
              </a:rPr>
              <a:t>stat_clamped_ratio → 99–100%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79094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50" y="36957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63732"/>
                </a:solidFill>
                <a:latin typeface="Microsoft YaHei"/>
                <a:ea typeface="Microsoft YaHei"/>
              </a:rPr>
              <a:t>μ_diff² → 0.008–0.04，prior/posterior 几乎重合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672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350" y="45720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63732"/>
                </a:solidFill>
                <a:latin typeface="Microsoft YaHei"/>
                <a:ea typeface="Microsoft YaHei"/>
              </a:rPr>
              <a:t>删 KL 的代价由三 seed 证实：37.94 vs 39.00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stat_* 日志 · 报告 §5.3/§25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失败分析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13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7372F"/>
                </a:solidFill>
                <a:latin typeface="Microsoft YaHei"/>
                <a:ea typeface="Microsoft YaHei"/>
              </a:rPr>
              <a:t>共享特征下类别专属回归是零和：Truck 涨则 Cyclist 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9" name="Picture 8" descr="fig_tru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295400"/>
            <a:ext cx="5467350" cy="41529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1295400"/>
            <a:ext cx="5981700" cy="415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581650"/>
            <a:ext cx="5981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图G｜Truck 专项三轮 · 报告 §10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4250" y="1428750"/>
            <a:ext cx="1066800" cy="247649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8550" y="1476375"/>
            <a:ext cx="838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6B5B"/>
                </a:solidFill>
                <a:latin typeface="Microsoft YaHei"/>
                <a:ea typeface="Microsoft YaHei"/>
              </a:rPr>
              <a:t>本文证据</a:t>
            </a:r>
          </a:p>
        </p:txBody>
      </p:sp>
      <p:sp>
        <p:nvSpPr>
          <p:cNvPr id="14" name="Oval 13"/>
          <p:cNvSpPr/>
          <p:nvPr/>
        </p:nvSpPr>
        <p:spPr>
          <a:xfrm>
            <a:off x="7334250" y="209549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00025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63732"/>
                </a:solidFill>
                <a:latin typeface="Microsoft YaHei"/>
                <a:ea typeface="Microsoft YaHei"/>
              </a:rPr>
              <a:t>三轮全部破 Cyclist −4.0 门控红线</a:t>
            </a:r>
          </a:p>
        </p:txBody>
      </p:sp>
      <p:sp>
        <p:nvSpPr>
          <p:cNvPr id="16" name="Oval 15"/>
          <p:cNvSpPr/>
          <p:nvPr/>
        </p:nvSpPr>
        <p:spPr>
          <a:xfrm>
            <a:off x="7334250" y="29146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81940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63732"/>
                </a:solidFill>
                <a:latin typeface="Microsoft YaHei"/>
                <a:ea typeface="Microsoft YaHei"/>
              </a:rPr>
              <a:t>detach 版否证『梯度回流干扰』假设</a:t>
            </a:r>
          </a:p>
        </p:txBody>
      </p:sp>
      <p:sp>
        <p:nvSpPr>
          <p:cNvPr id="18" name="Oval 17"/>
          <p:cNvSpPr/>
          <p:nvPr/>
        </p:nvSpPr>
        <p:spPr>
          <a:xfrm>
            <a:off x="7334250" y="373379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3638550"/>
            <a:ext cx="3886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63732"/>
                </a:solidFill>
                <a:latin typeface="Microsoft YaHei"/>
                <a:ea typeface="Microsoft YaHei"/>
              </a:rPr>
              <a:t>根因：共享 BEV 特征容量被零和瓜分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4250" y="4743450"/>
            <a:ext cx="4171950" cy="742950"/>
          </a:xfrm>
          <a:prstGeom prst="rect">
            <a:avLst/>
          </a:prstGeom>
          <a:solidFill>
            <a:srgbClr val="FFF9E5"/>
          </a:solidFill>
          <a:ln w="12700">
            <a:solidFill>
              <a:srgbClr val="F6D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4749" y="4895850"/>
            <a:ext cx="37909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05717"/>
                </a:solidFill>
                <a:latin typeface="Microsoft YaHei"/>
                <a:ea typeface="Microsoft YaHei"/>
              </a:rPr>
              <a:t>Δ 为窗口口径差值；Truck 首要问题是定位（长轴 3.02m）而非分类。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§26-§28 日志 · 报告 §8.6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失败分析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14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372F"/>
                </a:solidFill>
                <a:latin typeface="Microsoft YaHei"/>
                <a:ea typeface="Microsoft YaHei"/>
              </a:rPr>
              <a:t>Pedestrian strict≈0 是物理瓶颈：anchor 几何 + BEV 分辨率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0287000" cy="104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72F"/>
                </a:solidFill>
                <a:latin typeface="Microsoft YaHei"/>
                <a:ea typeface="Microsoft YaHei"/>
              </a:rPr>
              <a:t>换检测头、加 anchor、独立 CenterHead、高分辨率支线七轮尝试全部未过门控，诊断证据一致指向输入端上限。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9146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50" y="28194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63732"/>
                </a:solidFill>
                <a:latin typeface="Microsoft YaHei"/>
                <a:ea typeface="Microsoft YaHei"/>
              </a:rPr>
              <a:t>λ-recall@0.5 仅 4.5%：anchor 几何卡死上限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79094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50" y="36957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63732"/>
                </a:solidFill>
                <a:latin typeface="Microsoft YaHei"/>
                <a:ea typeface="Microsoft YaHei"/>
              </a:rPr>
              <a:t>宽度误差 0.31m（行人框宽仅 0.4–0.7m）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672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350" y="45720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63732"/>
                </a:solidFill>
                <a:latin typeface="Microsoft YaHei"/>
                <a:ea typeface="Microsoft YaHei"/>
              </a:rPr>
              <a:t>隔离实验证明 0.32m BEV 特征本身不足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§29-§39 诊断与 dump · 报告 §8.7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失败分析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15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372F"/>
                </a:solidFill>
                <a:latin typeface="Microsoft YaHei"/>
                <a:ea typeface="Microsoft YaHei"/>
              </a:rPr>
              <a:t>Cyclist 分支 seed0 成功、seed1 失败：等 seed2 定论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0287000" cy="104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7372F"/>
                </a:solidFill>
                <a:latin typeface="Microsoft YaHei"/>
                <a:ea typeface="Microsoft YaHei"/>
              </a:rPr>
              <a:t>近两周结构门控（cross-modal fusion、共享 stem、Cyclist 分类分支）均以 Cyclist 红线或复现失败收场。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9146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50" y="28194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63732"/>
                </a:solidFill>
                <a:latin typeface="Microsoft YaHei"/>
                <a:ea typeface="Microsoft YaHei"/>
              </a:rPr>
              <a:t>共享 stem：Overall +0.88 但 Cyc −4.68，未过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79094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50" y="36957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63732"/>
                </a:solidFill>
                <a:latin typeface="Microsoft YaHei"/>
                <a:ea typeface="Microsoft YaHei"/>
              </a:rPr>
              <a:t>CycCls seed0 +1.18（Cyc 仅 −0.72）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672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350" y="45720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63732"/>
                </a:solidFill>
                <a:latin typeface="Microsoft YaHei"/>
                <a:ea typeface="Microsoft YaHei"/>
              </a:rPr>
              <a:t>seed1 四项 fail；跨 seed 唯一稳健信号 Car strict +2.9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§40-§44 门控记录 · 报告 §8.8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结论与计划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16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372F"/>
                </a:solidFill>
                <a:latin typeface="Microsoft YaHei"/>
                <a:ea typeface="Microsoft YaHei"/>
              </a:rPr>
              <a:t>结论：主线冻结为 pretrained + N4 RSSM + head-v2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295400"/>
            <a:ext cx="2590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95400"/>
            <a:ext cx="47625" cy="91440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6300" y="1428750"/>
            <a:ext cx="2247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372F"/>
                </a:solidFill>
                <a:latin typeface="Microsoft YaHei"/>
                <a:ea typeface="Microsoft YaHei"/>
              </a:rPr>
              <a:t>40.42 ± 0.51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184785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三 seed 主线成绩（deterministic）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5200" y="1295400"/>
            <a:ext cx="2590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5200" y="1295400"/>
            <a:ext cx="47625" cy="91440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5700" y="1428750"/>
            <a:ext cx="2247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372F"/>
                </a:solidFill>
                <a:latin typeface="Microsoft YaHei"/>
                <a:ea typeface="Microsoft YaHei"/>
              </a:rPr>
              <a:t>+4.35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5700" y="184785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时序融合净贡献（窗口 39.00 vs 34.65）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600" y="1295400"/>
            <a:ext cx="2590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4600" y="1295400"/>
            <a:ext cx="47625" cy="91440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5100" y="1428750"/>
            <a:ext cx="2247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372F"/>
                </a:solidFill>
                <a:latin typeface="Microsoft YaHei"/>
                <a:ea typeface="Microsoft YaHei"/>
              </a:rPr>
              <a:t>2.43 + 1.92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184785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确定性传播 + 随机建模（窗口口径）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476500"/>
            <a:ext cx="10287000" cy="104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372F"/>
                </a:solidFill>
                <a:latin typeface="Microsoft YaHei"/>
                <a:ea typeface="Microsoft YaHei"/>
              </a:rPr>
              <a:t>收益分解干净可复现，负结果均已归因；以下三个数字构成汇报主 takeaway。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79094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350" y="36957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63732"/>
                </a:solidFill>
                <a:latin typeface="Microsoft YaHei"/>
                <a:ea typeface="Microsoft YaHei"/>
              </a:rPr>
              <a:t>KL/prior 不可删：三 seed 证据（37.94 vs 39.00）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6672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350" y="45720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63732"/>
                </a:solidFill>
                <a:latin typeface="Microsoft YaHei"/>
                <a:ea typeface="Microsoft YaHei"/>
              </a:rPr>
              <a:t>共享头零和效应与 Ped 物理瓶颈已定论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55435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350" y="54483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63732"/>
                </a:solidFill>
                <a:latin typeface="Microsoft YaHei"/>
                <a:ea typeface="Microsoft YaHei"/>
              </a:rPr>
              <a:t>单 seed 峰值不进结论；主表一律 mean±std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报告 §11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结论与计划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17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372F"/>
                </a:solidFill>
                <a:latin typeface="Microsoft YaHei"/>
                <a:ea typeface="Microsoft YaHei"/>
              </a:rPr>
              <a:t>四个未解问题：Ped strict、Car-Truck 混淆、Cyc 排序、随机性价值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0287000" cy="104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372F"/>
                </a:solidFill>
                <a:latin typeface="Microsoft YaHei"/>
                <a:ea typeface="Microsoft YaHei"/>
              </a:rPr>
              <a:t>这些问题都有明确诊断，但当前架构内无解，需要下一阶段的投入决策。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9146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50" y="28194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63732"/>
                </a:solidFill>
                <a:latin typeface="Microsoft YaHei"/>
                <a:ea typeface="Microsoft YaHei"/>
              </a:rPr>
              <a:t>Ped strict≈0：全部架构手段试尽，需换输入范式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79094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50" y="36957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63732"/>
                </a:solidFill>
                <a:latin typeface="Microsoft YaHei"/>
                <a:ea typeface="Microsoft YaHei"/>
              </a:rPr>
              <a:t>Car-Truck 混淆与 Truck 定位（长轴 3.02m）未解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672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350" y="45720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63732"/>
                </a:solidFill>
                <a:latin typeface="Microsoft YaHei"/>
                <a:ea typeface="Microsoft YaHei"/>
              </a:rPr>
              <a:t>Cyc 瓶颈在排序质量；posterior collapse 下随机性未兑现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报告 §12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"/>
            <a:ext cx="381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1100" y="2857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E5EFE9"/>
          </a:solidFill>
          <a:ln w="12700">
            <a:solidFill>
              <a:srgbClr val="E5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1100" y="3429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D6B5B"/>
                </a:solidFill>
                <a:latin typeface="Microsoft YaHei"/>
                <a:ea typeface="Microsoft YaHei"/>
              </a:rPr>
              <a:t>结论与计划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42900"/>
            <a:ext cx="1219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2736C"/>
                </a:solidFill>
                <a:latin typeface="Microsoft YaHei"/>
                <a:ea typeface="Microsoft YaHei"/>
              </a:rPr>
              <a:t>18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09600"/>
            <a:ext cx="57150" cy="32385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6096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7372F"/>
                </a:solidFill>
                <a:latin typeface="Microsoft YaHei"/>
                <a:ea typeface="Microsoft YaHei"/>
              </a:rPr>
              <a:t>下一步：CycCls seed2 定论、仓库卫生、论文口径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0287000" cy="104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372F"/>
                </a:solidFill>
                <a:latin typeface="Microsoft YaHei"/>
                <a:ea typeface="Microsoft YaHei"/>
              </a:rPr>
              <a:t>三条已排期动作 + 一个需要今天讨论的决策。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9146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50" y="28194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63732"/>
                </a:solidFill>
                <a:latin typeface="Microsoft YaHei"/>
                <a:ea typeface="Microsoft YaHei"/>
              </a:rPr>
              <a:t>等 seed2 → 三 seed 配对均值，正式定性 CycCls 分支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790949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50" y="36957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63732"/>
                </a:solidFill>
                <a:latin typeface="Microsoft YaHei"/>
                <a:ea typeface="Microsoft YaHei"/>
              </a:rPr>
              <a:t>主配置回退 clean（shared_stem=False）+ 修 GRU 基线 return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667250"/>
            <a:ext cx="66675" cy="66675"/>
          </a:xfrm>
          <a:prstGeom prst="ellipse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350" y="4572000"/>
            <a:ext cx="100774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63732"/>
                </a:solidFill>
                <a:latin typeface="Microsoft YaHei"/>
                <a:ea typeface="Microsoft YaHei"/>
              </a:rPr>
              <a:t>讨论：Truck 类分离 tower 与 Ped 换范式是否立项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报告 §12/§13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9150" y="1905000"/>
            <a:ext cx="10287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17372F"/>
                </a:solidFill>
                <a:latin typeface="Microsoft YaHei"/>
                <a:ea typeface="Microsoft YaHei"/>
              </a:rPr>
              <a:t>谢谢 · 欢迎讨论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2781300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62736C"/>
                </a:solidFill>
                <a:latin typeface="Microsoft YaHei"/>
                <a:ea typeface="Microsoft YaHei"/>
              </a:rPr>
              <a:t>主线已冻结：pretrained + N4 RSSM + head-v2 · 40.42 ± 0.51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1550" y="3486150"/>
            <a:ext cx="3238500" cy="104774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1550" y="3486150"/>
            <a:ext cx="47625" cy="1047749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2050" y="3638550"/>
            <a:ext cx="2857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3732"/>
                </a:solidFill>
                <a:latin typeface="Microsoft YaHei"/>
                <a:ea typeface="Microsoft YaHei"/>
              </a:rPr>
              <a:t>CycCls seed2 出分后的定性标准？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6750" y="3486150"/>
            <a:ext cx="3238500" cy="104774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76750" y="3486150"/>
            <a:ext cx="47625" cy="1047749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7250" y="3638550"/>
            <a:ext cx="2857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3732"/>
                </a:solidFill>
                <a:latin typeface="Microsoft YaHei"/>
                <a:ea typeface="Microsoft YaHei"/>
              </a:rPr>
              <a:t>Truck 类分离 tower 是否立项？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1949" y="3486150"/>
            <a:ext cx="3238500" cy="104774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81949" y="3486150"/>
            <a:ext cx="47625" cy="1047749"/>
          </a:xfrm>
          <a:prstGeom prst="rect">
            <a:avLst/>
          </a:prstGeom>
          <a:solidFill>
            <a:srgbClr val="2D6B5B"/>
          </a:solidFill>
          <a:ln w="12700">
            <a:solidFill>
              <a:srgbClr val="2D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2450" y="3638550"/>
            <a:ext cx="2857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3732"/>
                </a:solidFill>
                <a:latin typeface="Microsoft YaHei"/>
                <a:ea typeface="Microsoft YaHei"/>
              </a:rPr>
              <a:t>Ped 换范式的成本与预期？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12700">
            <a:solidFill>
              <a:srgbClr val="C9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3415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2736C"/>
                </a:solidFill>
                <a:latin typeface="Microsoft YaHei"/>
                <a:ea typeface="Microsoft YaHei"/>
              </a:rPr>
              <a:t>R4Det+RSSM 项目内部实验记录（docs/training_runs_full.md，2026-07 至 2026-09，数字均经 work_dirs 日志与 checkpoint 复核） ·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